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8CB-477C-9E5F-828204D20586}"/>
              </c:ext>
            </c:extLst>
          </c:dPt>
          <c:dPt>
            <c:idx val="1"/>
            <c:invertIfNegative val="0"/>
            <c:bubble3D val="0"/>
            <c:spPr>
              <a:solidFill>
                <a:srgbClr val="F57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8CB-477C-9E5F-828204D2058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Bengali buyers</c:v>
                </c:pt>
                <c:pt idx="1">
                  <c:v>Non-Bengali discovery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10500</c:v>
                </c:pt>
                <c:pt idx="1">
                  <c:v>13200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8CB-477C-9E5F-828204D205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00"/>
        </c:scaling>
        <c:delete val="0"/>
        <c:axPos val="l"/>
        <c:majorGridlines>
          <c:spPr>
            <a:ln w="1270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₹/kg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88C-4611-B6A0-F1288B794C47}"/>
              </c:ext>
            </c:extLst>
          </c:dPt>
          <c:dPt>
            <c:idx val="1"/>
            <c:invertIfNegative val="0"/>
            <c:bubble3D val="0"/>
            <c:spPr>
              <a:solidFill>
                <a:srgbClr val="7CB3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8C-4611-B6A0-F1288B794C47}"/>
              </c:ext>
            </c:extLst>
          </c:dPt>
          <c:dPt>
            <c:idx val="2"/>
            <c:invertIfNegative val="0"/>
            <c:bubble3D val="0"/>
            <c:spPr>
              <a:solidFill>
                <a:srgbClr val="FFB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88C-4611-B6A0-F1288B794C47}"/>
              </c:ext>
            </c:extLst>
          </c:dPt>
          <c:dPt>
            <c:idx val="3"/>
            <c:invertIfNegative val="0"/>
            <c:bubble3D val="0"/>
            <c:spPr>
              <a:solidFill>
                <a:srgbClr val="F57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88C-4611-B6A0-F1288B794C4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Direct sourcing</c:v>
                </c:pt>
                <c:pt idx="1">
                  <c:v>Mandi sourcing</c:v>
                </c:pt>
                <c:pt idx="2">
                  <c:v>Blended cost</c:v>
                </c:pt>
                <c:pt idx="3">
                  <c:v>Retail price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168</c:v>
                </c:pt>
                <c:pt idx="1">
                  <c:v>193</c:v>
                </c:pt>
                <c:pt idx="2">
                  <c:v>181</c:v>
                </c:pt>
                <c:pt idx="3">
                  <c:v>310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88C-4611-B6A0-F1288B794C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Profit</c:v>
                </c:pt>
              </c:strCache>
            </c:strRef>
          </c:tx>
          <c:spPr>
            <a:solidFill>
              <a:srgbClr val="F57C0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7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AFE-43D7-9E85-8DFC14614C18}"/>
              </c:ext>
            </c:extLst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FE-43D7-9E85-8DFC14614C18}"/>
              </c:ext>
            </c:extLst>
          </c:dPt>
          <c:dPt>
            <c:idx val="2"/>
            <c:invertIfNegative val="0"/>
            <c:bubble3D val="0"/>
            <c:spPr>
              <a:solidFill>
                <a:srgbClr val="66A6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AFE-43D7-9E85-8DFC14614C18}"/>
              </c:ext>
            </c:extLst>
          </c:dPt>
          <c:dPt>
            <c:idx val="3"/>
            <c:invertIfNegative val="0"/>
            <c:bubble3D val="0"/>
            <c:spPr>
              <a:solidFill>
                <a:srgbClr val="FFB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AFE-43D7-9E85-8DFC14614C1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Pilot
2,500 kg</c:v>
                </c:pt>
                <c:pt idx="1">
                  <c:v>Phase 2
10,000 kg</c:v>
                </c:pt>
                <c:pt idx="2">
                  <c:v>Seasonal Low
20,000 kg</c:v>
                </c:pt>
                <c:pt idx="3">
                  <c:v>Seasonal High
25,000 kg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1.43</c:v>
                </c:pt>
                <c:pt idx="1">
                  <c:v>6.12</c:v>
                </c:pt>
                <c:pt idx="2">
                  <c:v>12.34</c:v>
                </c:pt>
                <c:pt idx="3">
                  <c:v>15.3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AFE-43D7-9E85-8DFC14614C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6C7-4AC3-8CFC-CA68F476327F}"/>
              </c:ext>
            </c:extLst>
          </c:dPt>
          <c:dPt>
            <c:idx val="1"/>
            <c:bubble3D val="0"/>
            <c:spPr>
              <a:solidFill>
                <a:srgbClr val="E7E2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6C7-4AC3-8CFC-CA68F476327F}"/>
              </c:ext>
            </c:extLst>
          </c:dPt>
          <c:cat>
            <c:strRef>
              <c:f>Sheet1!$A$2:$A$3</c:f>
              <c:strCache>
                <c:ptCount val="2"/>
                <c:pt idx="0">
                  <c:v>Target</c:v>
                </c:pt>
                <c:pt idx="1">
                  <c:v>Gap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6C7-4AC3-8CFC-CA68F47632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7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0CD-49F4-8859-3111845D19FC}"/>
              </c:ext>
            </c:extLst>
          </c:dPt>
          <c:dPt>
            <c:idx val="1"/>
            <c:bubble3D val="0"/>
            <c:spPr>
              <a:solidFill>
                <a:srgbClr val="E7E2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0CD-49F4-8859-3111845D19FC}"/>
              </c:ext>
            </c:extLst>
          </c:dPt>
          <c:cat>
            <c:strRef>
              <c:f>Sheet1!$A$2:$A$3</c:f>
              <c:strCache>
                <c:ptCount val="2"/>
                <c:pt idx="0">
                  <c:v>Target</c:v>
                </c:pt>
                <c:pt idx="1">
                  <c:v>Gap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0CD-49F4-8859-3111845D19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C87-40BF-A19B-B8843BE36944}"/>
              </c:ext>
            </c:extLst>
          </c:dPt>
          <c:dPt>
            <c:idx val="1"/>
            <c:bubble3D val="0"/>
            <c:spPr>
              <a:solidFill>
                <a:srgbClr val="E7E2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87-40BF-A19B-B8843BE36944}"/>
              </c:ext>
            </c:extLst>
          </c:dPt>
          <c:cat>
            <c:strRef>
              <c:f>Sheet1!$A$2:$A$3</c:f>
              <c:strCache>
                <c:ptCount val="2"/>
                <c:pt idx="0">
                  <c:v>Target</c:v>
                </c:pt>
                <c:pt idx="1">
                  <c:v>Gap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87-40BF-A19B-B8843BE369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38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chibowl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D32">
              <a:alpha val="72000"/>
            </a:srgbClr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pic>
        <p:nvPicPr>
          <p:cNvPr id="5" name="Image 1" descr="/mnt/data/himsagar.png"/>
          <p:cNvPicPr>
            <a:picLocks noChangeAspect="1"/>
          </p:cNvPicPr>
          <p:nvPr/>
        </p:nvPicPr>
        <p:blipFill>
          <a:blip r:embed="rId4"/>
          <a:srcRect t="18546" b="18546"/>
          <a:stretch/>
        </p:blipFill>
        <p:spPr>
          <a:xfrm>
            <a:off x="7726680" y="1143000"/>
            <a:ext cx="3520440" cy="3337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1234440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profitable Himsagar mango pilot for Hyderabad</a:t>
            </a:r>
            <a:endParaRPr lang="en-US" sz="3700" dirty="0"/>
          </a:p>
        </p:txBody>
      </p:sp>
      <p:sp>
        <p:nvSpPr>
          <p:cNvPr id="7" name="Text 3"/>
          <p:cNvSpPr/>
          <p:nvPr/>
        </p:nvSpPr>
        <p:spPr>
          <a:xfrm>
            <a:off x="685800" y="27889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DEB8B"/>
                </a:solidFill>
              </a:rPr>
              <a:t>Kolkata Himsagar Mango | Nizampet + Gachibowli opportunity for bigbasket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85800" y="3337560"/>
            <a:ext cx="2057400" cy="301752"/>
          </a:xfrm>
          <a:prstGeom prst="roundRect">
            <a:avLst>
              <a:gd name="adj" fmla="val 18182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95528" y="3401568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Analytics-led launch proposal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85800" y="5166360"/>
            <a:ext cx="40233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Prepared by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Arunima Nandi Pal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Freelance MBA — Analytics &amp; Data Science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086600" y="5120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Target outcome: prove a high-margin, low-risk seasonal category expansion that can earn a recruiter call.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Himsagar in Hyderabad is a smart pilot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772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A premium Bengali mango with a clear diaspora hook and broader premium-fruit appeal.</a:t>
            </a:r>
            <a:endParaRPr lang="en-US" sz="880" dirty="0"/>
          </a:p>
        </p:txBody>
      </p:sp>
      <p:pic>
        <p:nvPicPr>
          <p:cNvPr id="6" name="Image 0" descr="/mnt/data/himsagar.png"/>
          <p:cNvPicPr>
            <a:picLocks noChangeAspect="1"/>
          </p:cNvPicPr>
          <p:nvPr/>
        </p:nvPicPr>
        <p:blipFill>
          <a:blip r:embed="rId3"/>
          <a:srcRect t="9860" b="9860"/>
          <a:stretch/>
        </p:blipFill>
        <p:spPr>
          <a:xfrm>
            <a:off x="502920" y="1143000"/>
            <a:ext cx="3703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26280" y="1143000"/>
            <a:ext cx="70866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7E2CB">
                <a:alpha val="7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00600" y="1417320"/>
            <a:ext cx="438912" cy="43891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151790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94960" y="14173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1B"/>
                </a:solidFill>
              </a:rPr>
              <a:t>Ethnic demand base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394960" y="17373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Nizampet + Gachibowli have concentrated east-Indian and tech migrant households; Bengali users are likely to convert at higher intent.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00600" y="2651760"/>
            <a:ext cx="438912" cy="43891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275234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94960" y="26517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1B"/>
                </a:solidFill>
              </a:rPr>
              <a:t>Premium differentiation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394960" y="29718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Himsagar is a GI-tagged Bengal cultivar, known for aroma, fibre-free pulp, and short-season scarcity.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00600" y="3886200"/>
            <a:ext cx="438912" cy="43891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398678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394960" y="38862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1B"/>
                </a:solidFill>
              </a:rPr>
              <a:t>Supply-chain fit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94960" y="42062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bigbasket can test using a 2,500 kg controlled batch before scaling to 20,000–25,000 kg seasonal demand.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5800" y="5532120"/>
            <a:ext cx="2880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2CB">
                <a:alpha val="7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50392" y="5678424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E7D32"/>
                </a:solidFill>
              </a:rPr>
              <a:t>20,000–25,000 kg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50392" y="610819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</a:rPr>
              <a:t>Seasonal demand estimate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3794760" y="5532120"/>
            <a:ext cx="2377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2CB">
                <a:alpha val="7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959352" y="5678424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7C00"/>
                </a:solidFill>
              </a:rPr>
              <a:t>₹1.4 lakh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959352" y="610819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</a:rPr>
              <a:t>Pilot contribution estimate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6400800" y="5532120"/>
            <a:ext cx="2880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2CB">
                <a:alpha val="7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565392" y="5678424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E7D32"/>
                </a:solidFill>
              </a:rPr>
              <a:t>₹300–₹320/kg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565392" y="610819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</a:rPr>
              <a:t>Retail price band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502920" y="66568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7A8A78"/>
                </a:solidFill>
              </a:rPr>
              <a:t>Prepared by Arunima Nandi Pal  |  Freelance MBA Analytics &amp; Data Science</a:t>
            </a:r>
            <a:endParaRPr lang="en-US" sz="620" dirty="0"/>
          </a:p>
        </p:txBody>
      </p:sp>
      <p:sp>
        <p:nvSpPr>
          <p:cNvPr id="30" name="Text 27"/>
          <p:cNvSpPr/>
          <p:nvPr/>
        </p:nvSpPr>
        <p:spPr>
          <a:xfrm>
            <a:off x="11201400" y="664768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7A8A78"/>
                </a:solidFill>
              </a:rPr>
              <a:t>02</a:t>
            </a:r>
            <a:endParaRPr lang="en-US" sz="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sizing: two demand engines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772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Demand is split between “homesick Bengali households” and premium non-Bengali discovery.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8915400" y="658368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8F9B8C">
                    <a:alpha val="6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Arunima Nandi Pal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539496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7E2CB">
                <a:alpha val="7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63640" y="1143000"/>
            <a:ext cx="539496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7E2CB">
                <a:alpha val="7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31B"/>
                </a:solidFill>
              </a:rPr>
              <a:t>User funnel — target micro-markets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920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7231B"/>
                </a:solidFill>
              </a:rPr>
              <a:t>Local population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606040" y="1911096"/>
            <a:ext cx="2331720" cy="4663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911096"/>
            <a:ext cx="2331720" cy="4663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91109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7231B"/>
                </a:solidFill>
              </a:rPr>
              <a:t>5.0 lakh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868680" y="26243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7231B"/>
                </a:solidFill>
              </a:rPr>
              <a:t>Likely app users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2606040" y="2615184"/>
            <a:ext cx="2331720" cy="4663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2615184"/>
            <a:ext cx="652882" cy="466344"/>
          </a:xfrm>
          <a:prstGeom prst="rect">
            <a:avLst/>
          </a:prstGeom>
          <a:solidFill>
            <a:srgbClr val="66A65C"/>
          </a:solidFill>
          <a:ln w="12700">
            <a:solidFill>
              <a:srgbClr val="66A6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261518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7231B"/>
                </a:solidFill>
              </a:rPr>
              <a:t>1.4 lakh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868680" y="33284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7231B"/>
                </a:solidFill>
              </a:rPr>
              <a:t>Bengali app users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606040" y="3319272"/>
            <a:ext cx="2331720" cy="4663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3319272"/>
            <a:ext cx="121249" cy="466344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33192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7231B"/>
                </a:solidFill>
              </a:rPr>
              <a:t>0.26 lakh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868680" y="403250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7231B"/>
                </a:solidFill>
              </a:rPr>
              <a:t>Premium non-Bengali users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2606040" y="4023360"/>
            <a:ext cx="2331720" cy="4663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06040" y="4023360"/>
            <a:ext cx="512978" cy="46634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4023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7231B"/>
                </a:solidFill>
              </a:rPr>
              <a:t>1.10 lakh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868680" y="4800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280"/>
                </a:solidFill>
              </a:rPr>
              <a:t>Modeled using population, app penetration and segment shares from the source deck.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65379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31B"/>
                </a:solidFill>
              </a:rPr>
              <a:t>Demand build-up</a:t>
            </a:r>
            <a:endParaRPr lang="en-US" sz="16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6537960" y="1874520"/>
          <a:ext cx="443484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6629400" y="50749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231B"/>
                </a:solidFill>
              </a:rPr>
              <a:t>Assumption check: only 10% non-Bengali conversion already produces ~13,200 kg, making it the key upside lever.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2920" y="66568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7A8A78"/>
                </a:solidFill>
              </a:rPr>
              <a:t>Prepared by Arunima Nandi Pal  |  Freelance MBA Analytics &amp; Data Science</a:t>
            </a:r>
            <a:endParaRPr lang="en-US" sz="620" dirty="0"/>
          </a:p>
        </p:txBody>
      </p:sp>
      <p:sp>
        <p:nvSpPr>
          <p:cNvPr id="31" name="Text 28"/>
          <p:cNvSpPr/>
          <p:nvPr/>
        </p:nvSpPr>
        <p:spPr>
          <a:xfrm>
            <a:off x="11201400" y="664768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7A8A78"/>
                </a:solidFill>
              </a:rPr>
              <a:t>03</a:t>
            </a:r>
            <a:endParaRPr lang="en-US" sz="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 economics: high gross margin even with blended sourcing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772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Standardized to ₹/kg and Indian currency notation.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8915400" y="658368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8F9B8C">
                    <a:alpha val="6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Arunima Nandi Pal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11155680" cy="52120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7E2CB">
                <a:alpha val="7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8" name="Chart 0"/>
          <p:cNvGraphicFramePr/>
          <p:nvPr/>
        </p:nvGraphicFramePr>
        <p:xfrm>
          <a:off x="868680" y="1554480"/>
          <a:ext cx="60350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406640" y="1600200"/>
            <a:ext cx="32004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2CB">
                <a:alpha val="7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571232" y="174650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7C00"/>
                </a:solidFill>
              </a:rPr>
              <a:t>₹310/kg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571232" y="2176272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</a:rPr>
              <a:t>Revenue price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7406640" y="2880360"/>
            <a:ext cx="32004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2CB">
                <a:alpha val="7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571232" y="302666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E7D32"/>
                </a:solidFill>
              </a:rPr>
              <a:t>₹181/kg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571232" y="3456432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</a:rPr>
              <a:t>Blended procurement cost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7406640" y="4160520"/>
            <a:ext cx="32004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2CB">
                <a:alpha val="7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571232" y="43068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6B7280"/>
                </a:solidFill>
              </a:rPr>
              <a:t>~₹57/kg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571232" y="4736592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</a:rPr>
              <a:t>Contribution after ops*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960120" y="562356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231B"/>
                </a:solidFill>
              </a:rPr>
              <a:t>*After 8% wastage, ₹35/kg logistics/packing and pilot marketing allocation. Recommendation: sell as a limited Kolkata Himsagar SKU, not a commodity mango SKU.</a:t>
            </a:r>
            <a:endParaRPr lang="en-US" sz="1020" dirty="0"/>
          </a:p>
        </p:txBody>
      </p:sp>
      <p:sp>
        <p:nvSpPr>
          <p:cNvPr id="19" name="Text 16"/>
          <p:cNvSpPr/>
          <p:nvPr/>
        </p:nvSpPr>
        <p:spPr>
          <a:xfrm>
            <a:off x="502920" y="66568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7A8A78"/>
                </a:solidFill>
              </a:rPr>
              <a:t>Prepared by Arunima Nandi Pal  |  Freelance MBA Analytics &amp; Data Science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11201400" y="664768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7A8A78"/>
                </a:solidFill>
              </a:rPr>
              <a:t>04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Pilot P&amp;L: 2,500 kg launch batch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772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Wastage is handled by reducing sellable kg; it is not double-counted as a separate cost.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8915400" y="658368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8F9B8C">
                    <a:alpha val="6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Arunima Nandi Pal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 rot="19800000">
            <a:off x="210312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AB5A8">
                    <a:alpha val="22000"/>
                  </a:srgb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Arunima Nandi Pal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1115568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E7E2CB">
                <a:alpha val="7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417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31B"/>
                </a:solidFill>
              </a:rPr>
              <a:t>Profit &amp; Loss Statement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1783080"/>
            <a:ext cx="9966960" cy="384048"/>
          </a:xfrm>
          <a:prstGeom prst="rect">
            <a:avLst/>
          </a:prstGeom>
          <a:solidFill>
            <a:srgbClr val="F8FFF4"/>
          </a:solidFill>
          <a:ln w="12700">
            <a:solidFill>
              <a:srgbClr val="E7E2CB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883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7231B"/>
                </a:solidFill>
              </a:rPr>
              <a:t>Purchased quantity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4983480" y="18653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7D32"/>
                </a:solidFill>
              </a:rPr>
              <a:t>2,500 kg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086600" y="1883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Full batch sourced for pilot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8680" y="2212848"/>
            <a:ext cx="9966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CB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31343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7231B"/>
                </a:solidFill>
              </a:rPr>
              <a:t>Sellable quantity after 8% wastage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4983480" y="229514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7D32"/>
                </a:solidFill>
              </a:rPr>
              <a:t>2,300 kg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86600" y="231343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2,500 kg × 92%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68680" y="2642616"/>
            <a:ext cx="9966960" cy="384048"/>
          </a:xfrm>
          <a:prstGeom prst="rect">
            <a:avLst/>
          </a:prstGeom>
          <a:solidFill>
            <a:srgbClr val="F8FFF4"/>
          </a:solidFill>
          <a:ln w="12700">
            <a:solidFill>
              <a:srgbClr val="E7E2CB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274320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7231B"/>
                </a:solidFill>
              </a:rPr>
              <a:t>Revenue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4983480" y="272491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7D32"/>
                </a:solidFill>
              </a:rPr>
              <a:t>₹7.13 lakh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86600" y="2743200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2,300 kg × ₹310/kg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68680" y="3072384"/>
            <a:ext cx="9966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CB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317296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7231B"/>
                </a:solidFill>
              </a:rPr>
              <a:t>Procurement cost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4983480" y="31546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7D32"/>
                </a:solidFill>
              </a:rPr>
              <a:t>₹4.53 lakh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86600" y="317296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2,500 kg × ₹181/kg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68680" y="3502152"/>
            <a:ext cx="9966960" cy="384048"/>
          </a:xfrm>
          <a:prstGeom prst="rect">
            <a:avLst/>
          </a:prstGeom>
          <a:solidFill>
            <a:srgbClr val="F8FFF4"/>
          </a:solidFill>
          <a:ln w="12700">
            <a:solidFill>
              <a:srgbClr val="E7E2CB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360273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7231B"/>
                </a:solidFill>
              </a:rPr>
              <a:t>Logistics + packaging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4983480" y="35844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7D32"/>
                </a:solidFill>
              </a:rPr>
              <a:t>₹0.88 lakh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086600" y="360273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2,500 kg × ₹35/kg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68680" y="3931920"/>
            <a:ext cx="9966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CB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403250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7231B"/>
                </a:solidFill>
              </a:rPr>
              <a:t>Launch marketing allocation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4983480" y="40142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7D32"/>
                </a:solidFill>
              </a:rPr>
              <a:t>₹0.30 lakh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86600" y="403250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App banner + push test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68680" y="4361688"/>
            <a:ext cx="9966960" cy="384048"/>
          </a:xfrm>
          <a:prstGeom prst="rect">
            <a:avLst/>
          </a:prstGeom>
          <a:solidFill>
            <a:srgbClr val="FFF3CD"/>
          </a:solidFill>
          <a:ln w="12700">
            <a:solidFill>
              <a:srgbClr val="E7E2CB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446227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17231B"/>
                </a:solidFill>
              </a:rPr>
              <a:t>Predicted pilot profit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4983480" y="444398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57C00"/>
                </a:solidFill>
              </a:rPr>
              <a:t>₹1.43 lakh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086600" y="446227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Revenue − total cost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60120" y="5257800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31B"/>
                </a:solidFill>
              </a:rPr>
              <a:t>P&amp;L conclusion: the pilot remains positive even after wastage and fulfilment costs because the ₹310/kg premium price leaves enough margin room.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66568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7A8A78"/>
                </a:solidFill>
              </a:rPr>
              <a:t>Prepared by Arunima Nandi Pal  |  Freelance MBA Analytics &amp; Data Science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11201400" y="664768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7A8A78"/>
                </a:solidFill>
              </a:rPr>
              <a:t>05</a:t>
            </a:r>
            <a:endParaRPr lang="en-US" sz="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Predicted profit of the Himsagar pilot and scale-up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772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Scenario graph uses kg-based volume, 8% wastage, ₹310/kg selling price, ₹181/kg procurement, and ₹35/kg logistics/packing.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8915400" y="658368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8F9B8C">
                    <a:alpha val="6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Arunima Nandi Pal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 rot="19800000">
            <a:off x="210312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AB5A8">
                    <a:alpha val="22000"/>
                  </a:srgb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Arunima Nandi Pal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1115568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E7E2CB">
                <a:alpha val="7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9" name="Chart 0"/>
          <p:cNvGraphicFramePr/>
          <p:nvPr/>
        </p:nvGraphicFramePr>
        <p:xfrm>
          <a:off x="868680" y="1508760"/>
          <a:ext cx="6492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7818120" y="1508760"/>
            <a:ext cx="3063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2CB">
                <a:alpha val="7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982712" y="1655064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7C00"/>
                </a:solidFill>
              </a:rPr>
              <a:t>₹1.43 lakh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982712" y="2084832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</a:rPr>
              <a:t>Pilot profit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7818120" y="2743200"/>
            <a:ext cx="3063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2CB">
                <a:alpha val="7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982712" y="2889504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E7D32"/>
                </a:solidFill>
              </a:rPr>
              <a:t>₹15.13 lakh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982712" y="3319272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</a:rPr>
              <a:t>25,000 kg profit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7818120" y="3977640"/>
            <a:ext cx="3063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2CB">
                <a:alpha val="7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982712" y="4123944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6B7280"/>
                </a:solidFill>
              </a:rPr>
              <a:t>~₹57–₹61/kg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982712" y="4553712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</a:rPr>
              <a:t>Profit per purchased kg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005840" y="578815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31B"/>
                </a:solidFill>
              </a:rPr>
              <a:t>Scale decision: start with 2,500 kg; scale only if conversion ≥12%, repeat rate ≥25%, and wastage stays under 8%.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02920" y="66568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7A8A78"/>
                </a:solidFill>
              </a:rPr>
              <a:t>Prepared by Arunima Nandi Pal  |  Freelance MBA Analytics &amp; Data Science</a:t>
            </a:r>
            <a:endParaRPr lang="en-US" sz="620" dirty="0"/>
          </a:p>
        </p:txBody>
      </p:sp>
      <p:sp>
        <p:nvSpPr>
          <p:cNvPr id="21" name="Text 18"/>
          <p:cNvSpPr/>
          <p:nvPr/>
        </p:nvSpPr>
        <p:spPr>
          <a:xfrm>
            <a:off x="11201400" y="664768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7A8A78"/>
                </a:solidFill>
              </a:rPr>
              <a:t>06</a:t>
            </a:r>
            <a:endParaRPr lang="en-US" sz="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Go-to-market: ethnic precision + premium discovery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772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Low-cost targeting via mango buyers, fish buyers, and premium basket cohorts.</a:t>
            </a:r>
            <a:endParaRPr lang="en-US" sz="880" dirty="0"/>
          </a:p>
        </p:txBody>
      </p:sp>
      <p:pic>
        <p:nvPicPr>
          <p:cNvPr id="6" name="Image 0" descr="/mnt/data/himsagar.png"/>
          <p:cNvPicPr>
            <a:picLocks noChangeAspect="1"/>
          </p:cNvPicPr>
          <p:nvPr/>
        </p:nvPicPr>
        <p:blipFill>
          <a:blip r:embed="rId3"/>
          <a:srcRect l="1321" r="1320"/>
          <a:stretch/>
        </p:blipFill>
        <p:spPr>
          <a:xfrm>
            <a:off x="8092440" y="914400"/>
            <a:ext cx="3337560" cy="5166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051560"/>
            <a:ext cx="6903720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E7E2CB">
                <a:alpha val="7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1463040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8408" y="1527048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Bengali trigger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788920" y="14813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31B"/>
                </a:solidFill>
              </a:rPr>
              <a:t>“Miss Kolkata mango? Himsagar is back.”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788920" y="18470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Push: 6–9 PM, Friday–Sunday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68680" y="2788920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8408" y="2852928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Premium discovery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788920" y="28072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31B"/>
                </a:solidFill>
              </a:rPr>
              <a:t>“Fibre-free, aromatic GI-tagged Bengal mango.”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788920" y="3172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App banner + search boost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68680" y="4114800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8408" y="4178808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Family basket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788920" y="413308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31B"/>
                </a:solidFill>
              </a:rPr>
              <a:t>2 kg + 3 kg packs with fish/sweets recommendations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788920" y="44988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Combo offer + limited stock badge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68680" y="5715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31B"/>
                </a:solidFill>
              </a:rPr>
              <a:t>Creative principle: present the SKU as a short-season cultural delicacy, not just another mango.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920" y="66568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7A8A78"/>
                </a:solidFill>
              </a:rPr>
              <a:t>Prepared by Arunima Nandi Pal  |  Freelance MBA Analytics &amp; Data Science</a:t>
            </a:r>
            <a:endParaRPr lang="en-US" sz="620" dirty="0"/>
          </a:p>
        </p:txBody>
      </p:sp>
      <p:sp>
        <p:nvSpPr>
          <p:cNvPr id="22" name="Text 19"/>
          <p:cNvSpPr/>
          <p:nvPr/>
        </p:nvSpPr>
        <p:spPr>
          <a:xfrm>
            <a:off x="11201400" y="664768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7A8A78"/>
                </a:solidFill>
              </a:rPr>
              <a:t>07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 dashboard: control conversion, repeat, and waste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772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Run the pilot as a measurable analytics experiment.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8915400" y="658368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8F9B8C">
                    <a:alpha val="6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Arunima Nandi Pal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1115568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7E2CB">
                <a:alpha val="7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8" name="Chart 0"/>
          <p:cNvGraphicFramePr/>
          <p:nvPr/>
        </p:nvGraphicFramePr>
        <p:xfrm>
          <a:off x="868680" y="1554480"/>
          <a:ext cx="1325880" cy="132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1152144" y="1865376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31B"/>
                </a:solidFill>
              </a:rPr>
              <a:t>12%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28986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6B7280"/>
                </a:solidFill>
              </a:rPr>
              <a:t>Conversion target</a:t>
            </a:r>
            <a:endParaRPr lang="en-US" sz="73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2697480" y="1554480"/>
          <a:ext cx="1325880" cy="132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2980944" y="1865376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31B"/>
                </a:solidFill>
              </a:rPr>
              <a:t>25%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560320" y="28986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6B7280"/>
                </a:solidFill>
              </a:rPr>
              <a:t>Repeat target</a:t>
            </a:r>
            <a:endParaRPr lang="en-US" sz="730" dirty="0"/>
          </a:p>
        </p:txBody>
      </p:sp>
      <p:graphicFrame>
        <p:nvGraphicFramePr>
          <p:cNvPr id="14" name="Chart 2"/>
          <p:cNvGraphicFramePr/>
          <p:nvPr/>
        </p:nvGraphicFramePr>
        <p:xfrm>
          <a:off x="4526280" y="1554480"/>
          <a:ext cx="1325880" cy="132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ext 10"/>
          <p:cNvSpPr/>
          <p:nvPr/>
        </p:nvSpPr>
        <p:spPr>
          <a:xfrm>
            <a:off x="4809744" y="1865376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31B"/>
                </a:solidFill>
              </a:rPr>
              <a:t>8%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389120" y="28986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6B7280"/>
                </a:solidFill>
              </a:rPr>
              <a:t>Wastage max</a:t>
            </a:r>
            <a:endParaRPr lang="en-US" sz="730" dirty="0"/>
          </a:p>
        </p:txBody>
      </p:sp>
      <p:sp>
        <p:nvSpPr>
          <p:cNvPr id="17" name="Text 12"/>
          <p:cNvSpPr/>
          <p:nvPr/>
        </p:nvSpPr>
        <p:spPr>
          <a:xfrm>
            <a:off x="6583680" y="1508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31B"/>
                </a:solidFill>
              </a:rPr>
              <a:t>Decision rules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 rot="5400000">
            <a:off x="6629400" y="2020824"/>
            <a:ext cx="201168" cy="201168"/>
          </a:xfrm>
          <a:prstGeom prst="triangl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949440" y="19659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231B"/>
                </a:solidFill>
              </a:rPr>
              <a:t>Scale to 10,000 kg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549640" y="1965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If conversion &gt;12% and wastage &lt;8% by day 5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 rot="5400000">
            <a:off x="6629400" y="2889504"/>
            <a:ext cx="201168" cy="201168"/>
          </a:xfrm>
          <a:prstGeom prst="triangl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949440" y="28346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231B"/>
                </a:solidFill>
              </a:rPr>
              <a:t>Hold price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549640" y="2834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If repeat purchases exceed 25% by day 10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 rot="5400000">
            <a:off x="6629400" y="3758184"/>
            <a:ext cx="201168" cy="201168"/>
          </a:xfrm>
          <a:prstGeom prst="triangl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949440" y="3703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231B"/>
                </a:solidFill>
              </a:rPr>
              <a:t>Discount exit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549640" y="3703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If ripeness risk rises after day 4 in inventory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914400" y="493776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1B"/>
                </a:solidFill>
              </a:rPr>
              <a:t>Track daily cohort metrics: views → add-to-cart → conversion → repeat → returns → wastage.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502920" y="66568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7A8A78"/>
                </a:solidFill>
              </a:rPr>
              <a:t>Prepared by Arunima Nandi Pal  |  Freelance MBA Analytics &amp; Data Science</a:t>
            </a:r>
            <a:endParaRPr lang="en-US" sz="620" dirty="0"/>
          </a:p>
        </p:txBody>
      </p:sp>
      <p:sp>
        <p:nvSpPr>
          <p:cNvPr id="29" name="Text 24"/>
          <p:cNvSpPr/>
          <p:nvPr/>
        </p:nvSpPr>
        <p:spPr>
          <a:xfrm>
            <a:off x="11201400" y="664768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7A8A78"/>
                </a:solidFill>
              </a:rPr>
              <a:t>08</a:t>
            </a:r>
            <a:endParaRPr lang="en-US" sz="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bigbasket gains from approving the pilot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772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A quick, data-backed category experiment with a clear learning loop.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94360" y="1115568"/>
            <a:ext cx="10972800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E7E2CB">
                <a:alpha val="7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600200"/>
            <a:ext cx="4572000" cy="137160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 w="12700">
            <a:solidFill>
              <a:srgbClr val="E7E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0136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</a:rPr>
              <a:t>Incremental seasonal revenue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0432" y="216712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231B"/>
                </a:solidFill>
              </a:rPr>
              <a:t>₹57.04–₹71.30 lakh at 20,000–25,000 kg purchased volume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1600200"/>
            <a:ext cx="4572000" cy="1371600"/>
          </a:xfrm>
          <a:prstGeom prst="roundRect">
            <a:avLst>
              <a:gd name="adj" fmla="val 6667"/>
            </a:avLst>
          </a:prstGeom>
          <a:solidFill>
            <a:srgbClr val="FFF3CD"/>
          </a:solidFill>
          <a:ln w="12700">
            <a:solidFill>
              <a:srgbClr val="E7E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80136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7C00"/>
                </a:solidFill>
              </a:rPr>
              <a:t>Recruitable analytics signal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36792" y="216712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231B"/>
                </a:solidFill>
              </a:rPr>
              <a:t>Shows cohort targeting, SKU pricing, and operations KPIs in one experiment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3566160"/>
            <a:ext cx="4572000" cy="137160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 w="12700">
            <a:solidFill>
              <a:srgbClr val="E7E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7673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</a:rPr>
              <a:t>Lower downside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413308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231B"/>
                </a:solidFill>
              </a:rPr>
              <a:t>Start with 2,500 kg, cap wastage, expand only on measured conversion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3566160"/>
            <a:ext cx="4572000" cy="1371600"/>
          </a:xfrm>
          <a:prstGeom prst="roundRect">
            <a:avLst>
              <a:gd name="adj" fmla="val 6667"/>
            </a:avLst>
          </a:prstGeom>
          <a:solidFill>
            <a:srgbClr val="FFF3CD"/>
          </a:solidFill>
          <a:ln w="12700">
            <a:solidFill>
              <a:srgbClr val="E7E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37673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7C00"/>
                </a:solidFill>
              </a:rPr>
              <a:t>Brand upside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36792" y="413308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231B"/>
                </a:solidFill>
              </a:rPr>
              <a:t>Regional delicacy positioning helps bigbasket own “authentic seasonal produce”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7280" y="5669280"/>
            <a:ext cx="9784080" cy="301752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Ask: Approve a 2,500 kg pilot for Nizampet + Gachibowli, with a 14-day KPI readout.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66568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7A8A78"/>
                </a:solidFill>
              </a:rPr>
              <a:t>Prepared by Arunima Nandi Pal  |  Freelance MBA Analytics &amp; Data Science</a:t>
            </a:r>
            <a:endParaRPr lang="en-US" sz="620" dirty="0"/>
          </a:p>
        </p:txBody>
      </p:sp>
      <p:sp>
        <p:nvSpPr>
          <p:cNvPr id="21" name="Text 19"/>
          <p:cNvSpPr/>
          <p:nvPr/>
        </p:nvSpPr>
        <p:spPr>
          <a:xfrm>
            <a:off x="11201400" y="664768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7A8A78"/>
                </a:solidFill>
              </a:rPr>
              <a:t>09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sources, records &amp; assumptions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772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External records support the opportunity; exact Bengali user data is modeled and should be validated with bigbasket first-party data.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1097280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E7E2CB">
                <a:alpha val="7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444752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4173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31B"/>
                </a:solidFill>
              </a:rPr>
              <a:t>Provided source deck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34840" y="141732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280"/>
                </a:solidFill>
              </a:rPr>
              <a:t>Base assumptions on Nizampet + Gachibowli population, app penetration, conversion, order sizes, sourcing costs and original profit range.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868680" y="2240280"/>
            <a:ext cx="256032" cy="25603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2128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31B"/>
                </a:solidFill>
              </a:rPr>
              <a:t>Census 2011 / Govt. population releases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34840" y="221284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280"/>
                </a:solidFill>
              </a:rPr>
              <a:t>Hyderabad population base used to contextualize metro demand and migration-led ethnic micro-markets.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68680" y="3035808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300837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31B"/>
                </a:solidFill>
              </a:rPr>
              <a:t>GI Registry / Govt. of West Bengal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34840" y="300837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280"/>
                </a:solidFill>
              </a:rPr>
              <a:t>Malda Khirsapati (Himsagar) Mango is a registered GI product, supporting premium authenticity positioning.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68680" y="3831336"/>
            <a:ext cx="256032" cy="25603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8039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31B"/>
                </a:solidFill>
              </a:rPr>
              <a:t>Reuters, 2025 / Bain-Flipkart report coverage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34840" y="380390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280"/>
                </a:solidFill>
              </a:rPr>
              <a:t>India quick-commerce/e-grocery demand continues to expand, creating room for local seasonal premium SKUs.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68680" y="4626864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45994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31B"/>
                </a:solidFill>
              </a:rPr>
              <a:t>Retail and mandi sanity checks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34840" y="459943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280"/>
                </a:solidFill>
              </a:rPr>
              <a:t>Premium Himsagar retail pricing and mango market price bands should be replaced with live supplier quotes before purchase order.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868680" y="58064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7231B"/>
                </a:solidFill>
              </a:rPr>
              <a:t>Model caveat: No exact public Bengali population or bigbasket cohort data is available. Proposal uses transparent assumptions and recommends validation through first-party user cohorts.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66568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7A8A78"/>
                </a:solidFill>
              </a:rPr>
              <a:t>Prepared by Arunima Nandi Pal  |  Freelance MBA Analytics &amp; Data Science</a:t>
            </a:r>
            <a:endParaRPr lang="en-US" sz="620" dirty="0"/>
          </a:p>
        </p:txBody>
      </p:sp>
      <p:sp>
        <p:nvSpPr>
          <p:cNvPr id="24" name="Text 22"/>
          <p:cNvSpPr/>
          <p:nvPr/>
        </p:nvSpPr>
        <p:spPr>
          <a:xfrm>
            <a:off x="11201400" y="664768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7A8A78"/>
                </a:solidFill>
              </a:rPr>
              <a:t>10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1140</Words>
  <Application>Microsoft Office PowerPoint</Application>
  <PresentationFormat>Widescreen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Freelance Analytics Proposal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Himsagar Mango Hyderabad Launch Opportunity</dc:title>
  <dc:subject>BigBasket Himsagar Mango Hyderabad Launch - Updated P&amp;L</dc:subject>
  <dc:creator>Arunima Nandi Pal</dc:creator>
  <cp:lastModifiedBy>arkopal75@gmail.com</cp:lastModifiedBy>
  <cp:revision>2</cp:revision>
  <dcterms:created xsi:type="dcterms:W3CDTF">2026-04-27T10:40:24Z</dcterms:created>
  <dcterms:modified xsi:type="dcterms:W3CDTF">2026-04-27T11:22:04Z</dcterms:modified>
</cp:coreProperties>
</file>